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C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88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526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503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535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30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07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522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47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650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3406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775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177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71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3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A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Marketing Optimization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9144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1  ·  Credit Card Behavioural Clustering  ·  29 May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828800" cy="1005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>
              <a:solidFill>
                <a:srgbClr val="A8C7C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3749040"/>
            <a:ext cx="1828800" cy="1005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7CC"/>
                </a:solidFill>
              </a:rPr>
              <a:t>Columns</a:t>
            </a:r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1828800" cy="1005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749040"/>
            <a:ext cx="1828800" cy="1005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84048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cannot serve all customers with one-size-fits-all campaigns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customers differ vastly in behaviour — spenders, revolvers, cash users, dormant accounts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segmentation, marketing spend is wasted on low-intent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credit card activity data across 8,500 customers is available but not yet utilised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2462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meaningful, distinct customer groups from behavioural data using unsupervised learning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each group looks like — their spending habits, balance levels, payment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clusters into actionable marketing recommendations for each segment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D4B925-A68E-B6FF-C4AD-8ADE8C9C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257"/>
          <a:stretch>
            <a:fillRect/>
          </a:stretch>
        </p:blipFill>
        <p:spPr>
          <a:xfrm>
            <a:off x="639095" y="0"/>
            <a:ext cx="7719197" cy="50999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DA2E530-43F6-AD92-5928-FB683598CF69}"/>
              </a:ext>
            </a:extLst>
          </p:cNvPr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401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2AB2999-5305-47D0-9FFA-FB3A676058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78" r="65974" b="80115"/>
          <a:stretch>
            <a:fillRect/>
          </a:stretch>
        </p:blipFill>
        <p:spPr>
          <a:xfrm>
            <a:off x="4085173" y="667281"/>
            <a:ext cx="3426453" cy="212243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Finding: Feature Distributions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094483" y="2884253"/>
            <a:ext cx="3407831" cy="224295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03794" y="2884253"/>
            <a:ext cx="3407831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03795" y="2902541"/>
            <a:ext cx="320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94482" y="3229764"/>
            <a:ext cx="3426452" cy="193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monetary features (balance, purchases, payments) are heavily right-skewed</a:t>
            </a:r>
            <a:endParaRPr lang="en-US" sz="12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cluster near zero with a long high-value tail</a:t>
            </a:r>
            <a:endParaRPr lang="en-US" sz="12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features are bimodal: customers either use a feature always or never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log1p transformation to all monetary &amp; count columns before modelling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D685EC-83C2-AFB2-9EAC-610C9458F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28" t="67556" r="1" b="15111"/>
          <a:stretch>
            <a:fillRect/>
          </a:stretch>
        </p:blipFill>
        <p:spPr>
          <a:xfrm>
            <a:off x="516179" y="2870707"/>
            <a:ext cx="3427884" cy="22871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09E07E-8414-0D49-7D5E-B79E2301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18" t="3555" r="32513" b="79852"/>
          <a:stretch>
            <a:fillRect/>
          </a:stretch>
        </p:blipFill>
        <p:spPr>
          <a:xfrm>
            <a:off x="488839" y="694373"/>
            <a:ext cx="3482316" cy="2140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7549" y="16256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Correlations &amp; Outlier Structure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231991" y="743035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7549" y="1061723"/>
            <a:ext cx="2934642" cy="1153157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5440" y="1176520"/>
            <a:ext cx="2763521" cy="84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features (r&gt;0.7) &amp; cash-advance features form 2 correlated clusters  →  PCA orthogonalises them.   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741FC2-7546-7BDE-274B-781386D4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566" y="644266"/>
            <a:ext cx="5730434" cy="4522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/>
          <p:nvPr/>
        </p:nvSpPr>
        <p:spPr>
          <a:xfrm>
            <a:off x="286173" y="2573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Overview — Monetary Features</a:t>
            </a:r>
            <a:endParaRPr lang="en-US" sz="10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C60F1755-5AEA-8C42-47E0-F5DBC64104D0}"/>
              </a:ext>
            </a:extLst>
          </p:cNvPr>
          <p:cNvSpPr/>
          <p:nvPr/>
        </p:nvSpPr>
        <p:spPr>
          <a:xfrm>
            <a:off x="-25398" y="4637359"/>
            <a:ext cx="9169398" cy="4846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B84DC61A-AFD2-4CC4-9B23-A4D890C8D3D8}"/>
              </a:ext>
            </a:extLst>
          </p:cNvPr>
          <p:cNvSpPr/>
          <p:nvPr/>
        </p:nvSpPr>
        <p:spPr>
          <a:xfrm>
            <a:off x="50804" y="4610938"/>
            <a:ext cx="88736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in all monetary cols  →  RobustScaler (IQR-based) applied after log transform.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04011-64F3-2537-5C70-76D68750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049"/>
            <a:ext cx="9144000" cy="285832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FA33D39-BC96-383F-7752-FB0B40489892}"/>
              </a:ext>
            </a:extLst>
          </p:cNvPr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6130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&amp; PCA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Drop customer_id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— no predictive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Median imputation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credit_limit (1 missing), min_payments (298 = 3.5%)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log1p transform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monetary/count cols — reduces right skew, handles zeros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9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purchase_to_limit_ratio + cash_advance_ratio (relative context)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5701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RobustScaler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856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scaling — double protection against outliers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0" y="7498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Scree — Cumulative Explained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60520" y="3570563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PCs → 85% variance  |  7 PCs → 90% variance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7 PCs: eliminates noise, retains dominant structure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multicollinearity between correlated features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0D5DF3E-9752-E9A8-DD76-D03AAB670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69848"/>
            <a:ext cx="4895618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Optimal Number of Clusters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complementary metrics evaluated for k = 2 to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3520440"/>
            <a:ext cx="85039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520440"/>
            <a:ext cx="85039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387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 = 4?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93192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plot: clear inflection point at k=4 — inertia drops sharply before, only marginally after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Calinski-Harabasz score (3,417) at k=4 — best between-cluster to within-cluster dispersion ratio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collapses revolvers &amp; cash users into one group — loses marketing actionability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k≥5 produces small, unstable, hard-to-interpret fragments with no additional business value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2B82FB-5178-264F-318B-F9C51163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7" y="1069848"/>
            <a:ext cx="9073968" cy="2254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Results — PCA 2D Projection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06440" y="82296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822960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8229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0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Full-Payers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1709928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1709928"/>
            <a:ext cx="73152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1709928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0" y="1755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029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Cash-Advance Dependents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2596896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6440" y="2596896"/>
            <a:ext cx="73152" cy="7772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259689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943600" y="26426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29169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Dormant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06440" y="3483864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06440" y="3483864"/>
            <a:ext cx="73152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92440" y="3483864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943600" y="3529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0" y="38039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Instalment Revolvers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59083" y="447547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0 (red) &amp; 1 (teal) clearly separate on PC1 (purchase vs cash axis). Clusters 2 &amp; 3 overlap in 2D but are well-separated in 7D PCA space.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E9B0F9D-3679-7E69-7620-D2B0A28A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9" y="839217"/>
            <a:ext cx="5380068" cy="37250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24536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— What Each Segment Looks Like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0040" y="85784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heatmap — darker = relatively higher; raw means annotated in each cell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5F1F6-1544-9D17-E82C-DC76349E0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6002"/>
            <a:ext cx="9144000" cy="3590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Insights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069080" cy="2057400"/>
          </a:xfrm>
          <a:prstGeom prst="rect">
            <a:avLst/>
          </a:prstGeom>
          <a:solidFill>
            <a:srgbClr val="1E3A5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406908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778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Full-Payers (14%)  ·  Retain &amp; Upsell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3840480" cy="1011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card upgrade (travel rewards, cashback)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credit limit offers + loyalty enrolment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incentives — lowest churn risk, highest LTV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069080" cy="2057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41248"/>
            <a:ext cx="406908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778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Cash-Advance Dependents (30%)  ·  Risk Control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298448"/>
            <a:ext cx="3959352" cy="1065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consolidation loans at competitive rates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tools + lower-cost alternatives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Instalment plan offers to shift behaviour away from cash advances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054436"/>
            <a:ext cx="4069080" cy="2057400"/>
          </a:xfrm>
          <a:prstGeom prst="rect">
            <a:avLst/>
          </a:prstGeom>
          <a:solidFill>
            <a:srgbClr val="1E3A5F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067982"/>
            <a:ext cx="4069080" cy="38404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910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Dormant (13%)  ·  Re-engagement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538728"/>
            <a:ext cx="3840480" cy="1006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bonus: spend £50 → get £10 back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category incentives based on demographics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before account lapses — acquisition cost sunk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047663"/>
            <a:ext cx="4069080" cy="2057400"/>
          </a:xfrm>
          <a:prstGeom prst="rect">
            <a:avLst/>
          </a:prstGeom>
          <a:solidFill>
            <a:srgbClr val="1E3A5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47663"/>
            <a:ext cx="406908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84239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Instalment Revolvers (43%)  ·  Grow Wallet Share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538728"/>
            <a:ext cx="3941064" cy="877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instalment promotions + merchant partner offers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transfer with introductory rate</a:t>
            </a:r>
            <a:endParaRPr lang="en-US" sz="1150" dirty="0"/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insurance / payment protection products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84048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months — seasonal patterns and long-term trends not captured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behavioural segmentation; age/income data would improve targeting 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assumptions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 clusters; 13%–43% size imbalance suggests DBSCAN/GMM worth exploring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0.30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overlap expected in real consumer data — behaviours form a continuum, not discrete bins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interpretability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995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centroids in PCA space not directly readable — raw-feature profiles used as workaround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22960"/>
            <a:ext cx="3931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298448"/>
            <a:ext cx="3657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segment stability with different random seeds and time windows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recommended marketing actions per segment to measure uplift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DBSCAN and Gaussian Mixture Models as alternative approaches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churn and default labels (if available) to validate predictive relevance of segments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demographic data (age, income, region) for more precise targeting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831</Words>
  <Application>Microsoft Office PowerPoint</Application>
  <PresentationFormat>On-screen Show (16:9)</PresentationFormat>
  <Paragraphs>127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for Marketing Optimization</dc:title>
  <dc:subject>PptxGenJS Presentation</dc:subject>
  <dc:creator>PptxGenJS</dc:creator>
  <cp:lastModifiedBy>Om Surase</cp:lastModifiedBy>
  <cp:revision>4</cp:revision>
  <dcterms:created xsi:type="dcterms:W3CDTF">2026-05-28T23:54:43Z</dcterms:created>
  <dcterms:modified xsi:type="dcterms:W3CDTF">2026-05-29T08:11:37Z</dcterms:modified>
</cp:coreProperties>
</file>